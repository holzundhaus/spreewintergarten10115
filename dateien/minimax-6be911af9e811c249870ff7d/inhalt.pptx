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wintergarten10115/beleuchtung-im-wintergarten/" TargetMode="External"/><Relationship Id="rId3" Type="http://schemas.openxmlformats.org/officeDocument/2006/relationships/hyperlink" Target="https://holzundhaus.github.io/spreewintergarten10115/dateien/minimax-6be911af9e811c249870ff7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Beleuchtung im Wintergarten: Tageslicht, Kunstlicht und Steuerung abstimmen · Erklärende Präsentation</a:t>
            </a:r>
          </a:p>
        </p:txBody>
      </p:sp>
      <p:sp>
        <p:nvSpPr>
          <p:cNvPr id="3" name="Content Placeholder 2"/>
          <p:cNvSpPr>
            <a:spLocks noGrp="1"/>
          </p:cNvSpPr>
          <p:nvPr>
            <p:ph idx="1"/>
          </p:nvPr>
        </p:nvSpPr>
        <p:spPr/>
        <p:txBody>
          <a:bodyPr/>
          <a:lstStyle/>
          <a:p>
            <a:r>
              <a:t>Überblick: Eine stimmige Beleuchtung im Wintergarten entsteht nicht durch die Auswahl einzelner Leuchten, sondern durch das Zusammenspiel von Tageslicht, Kunstlicht, Elektroplanung und Steuerung. Der folgende Leitfaden zeigt, wie sich die Beleuchtung an Nutzungszeiten, Aufenthaltsbereiche und saisonale Gewohnheiten anpassen lässt. Die einzelnen Schritte greifen dabei auf die Grundlagen der Beleuchtungsplanung im [Beleuchtungsratgeber für den Wintergarten](https://holzundhaus.github.io/spreewintergarten10115/beleuchtung-im-wintergarten/) zurück.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Tageslicht und Kunstlicht getrennt bewerten</a:t>
            </a:r>
          </a:p>
        </p:txBody>
      </p:sp>
      <p:sp>
        <p:nvSpPr>
          <p:cNvPr id="3" name="Content Placeholder 2"/>
          <p:cNvSpPr>
            <a:spLocks noGrp="1"/>
          </p:cNvSpPr>
          <p:nvPr>
            <p:ph idx="1"/>
          </p:nvPr>
        </p:nvSpPr>
        <p:spPr/>
        <p:txBody>
          <a:bodyPr/>
          <a:lstStyle/>
          <a:p>
            <a:pPr>
              <a:defRPr sz="1800"/>
            </a:pPr>
            <a:r>
              <a:t>Die Verglasung bestimmt, wie viel Sonnenlicht in den Wintergarten gelangt, wo Blendung entsteht und wie lange der Raum ohne zusätzliches Licht genutzt werden kann. Kunstlicht übernimmt dagegen vor allem in der Dämmerung, bei trübem Wetter und in der dunklen Jahreszeit die Aufgaben der Raumbeleuchtung. Beide Faktoren sollten deshalb nicht gegeneinander gerechnet werden. Eine zusätzliche Leuchte ersetzt weder eine ungünstige Glasaufteilung noch eine wirksame Verschattung. Umgekehrt muss ein bereits heller Wintergarten nicht gleichmäßig ausgeleuchtet werden. Sinnvoll ist eine getrennte Betrachtung: zuerst verfügbares Tageslicht, dann die gewünsc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Tageslicht und Kunstlicht getrennt bewerten</a:t>
            </a:r>
          </a:p>
        </p:txBody>
      </p:sp>
      <p:sp>
        <p:nvSpPr>
          <p:cNvPr id="3" name="Content Placeholder 2"/>
          <p:cNvSpPr>
            <a:spLocks noGrp="1"/>
          </p:cNvSpPr>
          <p:nvPr>
            <p:ph idx="1"/>
          </p:nvPr>
        </p:nvSpPr>
        <p:spPr/>
        <p:txBody>
          <a:bodyPr/>
          <a:lstStyle/>
          <a:p>
            <a:pPr>
              <a:defRPr sz="1800"/>
            </a:pPr>
            <a:r>
              <a:t>hte Funktion der Kunstbeleuchtung.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Lichtführung nach Tageszeit und Tätigkeit</a:t>
            </a:r>
          </a:p>
        </p:txBody>
      </p:sp>
      <p:sp>
        <p:nvSpPr>
          <p:cNvPr id="3" name="Content Placeholder 2"/>
          <p:cNvSpPr>
            <a:spLocks noGrp="1"/>
          </p:cNvSpPr>
          <p:nvPr>
            <p:ph idx="1"/>
          </p:nvPr>
        </p:nvSpPr>
        <p:spPr/>
        <p:txBody>
          <a:bodyPr/>
          <a:lstStyle/>
          <a:p>
            <a:pPr>
              <a:defRPr sz="1800"/>
            </a:pPr>
            <a:r>
              <a:t>Am Morgen kann eine gedämpfte Grundbeleuchtung den Raum nutzbar machen, während eine hellere, direkt ausgerichtete Leuchte den Frühstücksplatz unterstützt. Am Mittag dient Kunstlicht vor allem als Schattenausgleich an wandnahen Plätzen. Blendung sollte bereits bei der Planung von Verglasung und Verschattung berücksichtigt werden. Am Abend übernimmt die künstliche Beleuchtung zunehmend die Hauptfunktion. Direktes Licht eignet sich für klare Lichtinseln über einem Ess- oder Leseplatz, indirektes Licht für eine ruhige Atmosphäre. Warme Farbtemperaturen unterstützen eine gemütliche Wirkung, neutralweißes Licht hilft dagegen bei konzentrierten Tät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Lichtführung nach Tageszeit und Tätigkeit</a:t>
            </a:r>
          </a:p>
        </p:txBody>
      </p:sp>
      <p:sp>
        <p:nvSpPr>
          <p:cNvPr id="3" name="Content Placeholder 2"/>
          <p:cNvSpPr>
            <a:spLocks noGrp="1"/>
          </p:cNvSpPr>
          <p:nvPr>
            <p:ph idx="1"/>
          </p:nvPr>
        </p:nvSpPr>
        <p:spPr/>
        <p:txBody>
          <a:bodyPr/>
          <a:lstStyle/>
          <a:p>
            <a:pPr>
              <a:defRPr sz="1800"/>
            </a:pPr>
            <a:r>
              <a:t>igkeiten. Für Pflanzenbereich, Essplatz und Leseplatz sind unterschiedliche Anforderungen zu berücksichtigen; eine einzige Leuchte soll nicht sämtliche Nutzungen gleichermaßen erfüllen.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Elektroplanung vor der Leuchtenauswahl</a:t>
            </a:r>
          </a:p>
        </p:txBody>
      </p:sp>
      <p:sp>
        <p:nvSpPr>
          <p:cNvPr id="3" name="Content Placeholder 2"/>
          <p:cNvSpPr>
            <a:spLocks noGrp="1"/>
          </p:cNvSpPr>
          <p:nvPr>
            <p:ph idx="1"/>
          </p:nvPr>
        </p:nvSpPr>
        <p:spPr/>
        <p:txBody>
          <a:bodyPr/>
          <a:lstStyle/>
          <a:p>
            <a:pPr>
              <a:defRPr sz="1800"/>
            </a:pPr>
            <a:r>
              <a:t>Leitungen, Absicherung und Steckdosen sollten geklärt werden, bevor die Gestaltung feststeht. Beleuchtung, Heizung und gegebenenfalls Lüftung gehören in getrennte Stromkreise. Flexible Leuchten, Ladestationen und saisonale Dekoration benötigen erreichbare Anschlusspunkte an sinnvollen Möbelpositionen. Auch die Schutzarten von Leuchten, Steckdosen und Verbindungen müssen zum feuchten und temperaturwechselnden Umfeld passen. Eine spätere Nachrüstung ist aufwendig, weil Leitungen durch Profile und Anschlussfugen geführt werden müssen. Deshalb empfiehlt es sich, die grundlegende Beleuchtungsplanung parallel zur Verglasungs- und Heizungsplanung mi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Elektroplanung vor der Leuchtenauswahl</a:t>
            </a:r>
          </a:p>
        </p:txBody>
      </p:sp>
      <p:sp>
        <p:nvSpPr>
          <p:cNvPr id="3" name="Content Placeholder 2"/>
          <p:cNvSpPr>
            <a:spLocks noGrp="1"/>
          </p:cNvSpPr>
          <p:nvPr>
            <p:ph idx="1"/>
          </p:nvPr>
        </p:nvSpPr>
        <p:spPr/>
        <p:txBody>
          <a:bodyPr/>
          <a:lstStyle/>
          <a:p>
            <a:pPr>
              <a:defRPr sz="1800"/>
            </a:pPr>
            <a:r>
              <a:t>t dem Elektroplaner abzustimmen. Weitere Hinweise zu Aufbau und Abstimmung enthält der ausführliche [Ratgeber zu Tageslicht, Kunstlicht und Steuerung](https://holzundhaus.github.io/spreewintergarten10115/beleuchtung-im-wintergarten/).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Steuerung passend zur Nutzung wählen</a:t>
            </a:r>
          </a:p>
        </p:txBody>
      </p:sp>
      <p:sp>
        <p:nvSpPr>
          <p:cNvPr id="3" name="Content Placeholder 2"/>
          <p:cNvSpPr>
            <a:spLocks noGrp="1"/>
          </p:cNvSpPr>
          <p:nvPr>
            <p:ph idx="1"/>
          </p:nvPr>
        </p:nvSpPr>
        <p:spPr/>
        <p:txBody>
          <a:bodyPr/>
          <a:lstStyle/>
          <a:p>
            <a:pPr>
              <a:defRPr sz="1800"/>
            </a:pPr>
            <a:r>
              <a:t>Für einen selten genutzten Saisonraum kann eine manuelle Schaltung genügen. Wird der Wintergarten regelmäßig abends als zusätzlicher Wohnraum genutzt, bieten Dimmung und Szenen mehr Flexibilität: Lichtstimmungen lassen sich an Tätigkeit und Tageszeit anpassen. Eine tageslichtabhängige Steuerung verhindert, dass Kunstlicht unnötig hochläuft, während die Sonne den Raum bereits ausreichend versorgt. Zeit- oder Anwesenheitssteuerung kann bei regelmäßigen Abendstunden zusätzlichen Komfort bieten. Der angemessene Umfang hängt vor allem von der Nutzungsintensität ab. Pflanzenleuchten sollten getrennt geschaltet werden, da ihr Lichtspektrum nicht 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Steuerung passend zur Nutzung wählen</a:t>
            </a:r>
          </a:p>
        </p:txBody>
      </p:sp>
      <p:sp>
        <p:nvSpPr>
          <p:cNvPr id="3" name="Content Placeholder 2"/>
          <p:cNvSpPr>
            <a:spLocks noGrp="1"/>
          </p:cNvSpPr>
          <p:nvPr>
            <p:ph idx="1"/>
          </p:nvPr>
        </p:nvSpPr>
        <p:spPr/>
        <p:txBody>
          <a:bodyPr/>
          <a:lstStyle/>
          <a:p>
            <a:pPr>
              <a:defRPr sz="1800"/>
            </a:pPr>
            <a:r>
              <a:t> dauerhaften Aufenthaltsnutzung dient.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in fünf Schritten</a:t>
            </a:r>
          </a:p>
        </p:txBody>
      </p:sp>
      <p:sp>
        <p:nvSpPr>
          <p:cNvPr id="3" name="Content Placeholder 2"/>
          <p:cNvSpPr>
            <a:spLocks noGrp="1"/>
          </p:cNvSpPr>
          <p:nvPr>
            <p:ph idx="1"/>
          </p:nvPr>
        </p:nvSpPr>
        <p:spPr/>
        <p:txBody>
          <a:bodyPr/>
          <a:lstStyle/>
          <a:p>
            <a:pPr>
              <a:defRPr sz="1800"/>
            </a:pPr>
            <a:r>
              <a:t>Für die eigene Planung empfiehlt es sich, eine feste Reihenfolge einzuhalten: Erstens sollten die erwarteten Aufenthaltszeiten und Tätigkeiten notiert werden. Zweitens lässt sich der Tageslichtanteil aus Verglasung, Ausrichtung und Verschattung grob einschätzen. Drittens werden Stromkreise und Anschlusspunkte mit dem Elektroplaner festgelegt. Viertens folgen eine Skizze der Leuchtenpositionen und sinnvoller Lichtszenen. Fünftens wird der Steuerungsumfang an die tatsächliche Nutzung angepasst. Wichtig ist außerdem, die Anforderungen an Glas, Sonnenschutz und Beleuchtung gemeinsam zu beschreiben, bevor Angebote eingeholt werden. Eine vollständi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in fünf Schritten</a:t>
            </a:r>
          </a:p>
        </p:txBody>
      </p:sp>
      <p:sp>
        <p:nvSpPr>
          <p:cNvPr id="3" name="Content Placeholder 2"/>
          <p:cNvSpPr>
            <a:spLocks noGrp="1"/>
          </p:cNvSpPr>
          <p:nvPr>
            <p:ph idx="1"/>
          </p:nvPr>
        </p:nvSpPr>
        <p:spPr/>
        <p:txBody>
          <a:bodyPr/>
          <a:lstStyle/>
          <a:p>
            <a:pPr>
              <a:defRPr sz="1800"/>
            </a:pPr>
            <a:r>
              <a:t>ge Projektprüfung bleibt dabei unverzichtbar.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Beleuchtung im Wintergarten: Tageslicht, Kunstlicht und Steuerung abstimmen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