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spreewintergarten10115/wintergarten-garten-uebergang-gestaltung/" TargetMode="External"/><Relationship Id="rId3" Type="http://schemas.openxmlformats.org/officeDocument/2006/relationships/hyperlink" Target="https://holzundhaus.github.io/spreewintergarten10115/dateien/minimax-fac7a923ec2c674a6d305c4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 und Garten verbinden: Schnittstelle Anbau und Außenanlage · Erklärende Präsentation</a:t>
            </a:r>
          </a:p>
        </p:txBody>
      </p:sp>
      <p:sp>
        <p:nvSpPr>
          <p:cNvPr id="3" name="Content Placeholder 2"/>
          <p:cNvSpPr>
            <a:spLocks noGrp="1"/>
          </p:cNvSpPr>
          <p:nvPr>
            <p:ph idx="1"/>
          </p:nvPr>
        </p:nvSpPr>
        <p:spPr/>
        <p:txBody>
          <a:bodyPr/>
          <a:lstStyle/>
          <a:p>
            <a:r>
              <a:t>Überblick: Der Übergang vom Wintergarten zum Garten wird bei der Planung oft nachrangig behandelt – zu Unrecht. Genau diese Schnittstelle entscheidet darüber, wie alltagstauglich der Anbau bleibt: bei Regen, im Winter und über Jahre hinweg. Wer die Nahtstelle früh durchdenkt, vermeidet Stolperfallen, Pfützenbildung und Feuchteschäden am Anschluss. Die folgenden Abschnitte fassen die wichtigsten Planungspunkte zusammen, die vor dem ersten Angebot geklärt sein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Höhenlage zwischen Innen und Außen klären</a:t>
            </a:r>
          </a:p>
        </p:txBody>
      </p:sp>
      <p:sp>
        <p:nvSpPr>
          <p:cNvPr id="3" name="Content Placeholder 2"/>
          <p:cNvSpPr>
            <a:spLocks noGrp="1"/>
          </p:cNvSpPr>
          <p:nvPr>
            <p:ph idx="1"/>
          </p:nvPr>
        </p:nvSpPr>
        <p:spPr/>
        <p:txBody>
          <a:bodyPr/>
          <a:lstStyle/>
          <a:p>
            <a:pPr>
              <a:defRPr sz="1800"/>
            </a:pPr>
            <a:r>
              <a:t>Das Niveau des Wintergartenbodens und das anschließende Gelände bilden den Ausgangspunkt. Stimmen die Höhen nicht überein, entstehen Stufen am Ausgang, die je nach Nutzung unpraktisch oder sogar ein Sicherheitsrisiko sein können. Bei einem ganzjährig beheizten Wintergarten gehört der Boden zur wärmetechnischen Hülle – ein versenkter Austritt verändert dann auch die Anschlusssituation. Drei Konstellationen treten häufig auf: ein bodenebener Anschluss an den Garten, ein leicht erhöhter Wintergarten mit Stufen oder Rampe oder ein tieferliegendes Gelände mit einer Kante als Sitzplatzabschluss. Welche Variante passt, hängt vom Bestandsgebäude, 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Höhenlage zwischen Innen und Außen klären</a:t>
            </a:r>
          </a:p>
        </p:txBody>
      </p:sp>
      <p:sp>
        <p:nvSpPr>
          <p:cNvPr id="3" name="Content Placeholder 2"/>
          <p:cNvSpPr>
            <a:spLocks noGrp="1"/>
          </p:cNvSpPr>
          <p:nvPr>
            <p:ph idx="1"/>
          </p:nvPr>
        </p:nvSpPr>
        <p:spPr/>
        <p:txBody>
          <a:bodyPr/>
          <a:lstStyle/>
          <a:p>
            <a:pPr>
              <a:defRPr sz="1800"/>
            </a:pPr>
            <a:r>
              <a:t> Hangneigung und der geplanten Nutzung ab.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Wasserführung rund um den Austritt sichern</a:t>
            </a:r>
          </a:p>
        </p:txBody>
      </p:sp>
      <p:sp>
        <p:nvSpPr>
          <p:cNvPr id="3" name="Content Placeholder 2"/>
          <p:cNvSpPr>
            <a:spLocks noGrp="1"/>
          </p:cNvSpPr>
          <p:nvPr>
            <p:ph idx="1"/>
          </p:nvPr>
        </p:nvSpPr>
        <p:spPr/>
        <p:txBody>
          <a:bodyPr/>
          <a:lstStyle/>
          <a:p>
            <a:pPr>
              <a:defRPr sz="1800"/>
            </a:pPr>
            <a:r>
              <a:t>Regen, Schmelzwasser und Tauwasser treffen am Wintergarten auf zwei Flächen gleichzeitig: die Glasflächen und das angrenzende Gelände. Damit Wasser weder in den Anbau läuft noch am Austritt stehen bleibt, müssen Dachentwässerung, Türschwelle und Geländegefälle aufeinander abgestimmt sein. Konkret geht es um die Ableitung des Wassers aus den Dachrinnen, die Höhe der Türschwelle über dem Außenniveau, die Abführung von Wasser vor dem Ausgang und die Belastungen, die aus dem Garten zurückkommen – etwa Laub, Erde oder Tausalz im Winter. Sind diese Punkte ungeklärt, zeigen sich Schmutzstreifen an der Schwelle, feuchte Randbereiche oder ein gefährli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Wasserführung rund um den Austritt sichern</a:t>
            </a:r>
          </a:p>
        </p:txBody>
      </p:sp>
      <p:sp>
        <p:nvSpPr>
          <p:cNvPr id="3" name="Content Placeholder 2"/>
          <p:cNvSpPr>
            <a:spLocks noGrp="1"/>
          </p:cNvSpPr>
          <p:nvPr>
            <p:ph idx="1"/>
          </p:nvPr>
        </p:nvSpPr>
        <p:spPr/>
        <p:txBody>
          <a:bodyPr/>
          <a:lstStyle/>
          <a:p>
            <a:pPr>
              <a:defRPr sz="1800"/>
            </a:pPr>
            <a:r>
              <a:t>cher Stolperstein vor der Tür.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Türanschluss praktisch planen</a:t>
            </a:r>
          </a:p>
        </p:txBody>
      </p:sp>
      <p:sp>
        <p:nvSpPr>
          <p:cNvPr id="3" name="Content Placeholder 2"/>
          <p:cNvSpPr>
            <a:spLocks noGrp="1"/>
          </p:cNvSpPr>
          <p:nvPr>
            <p:ph idx="1"/>
          </p:nvPr>
        </p:nvSpPr>
        <p:spPr/>
        <p:txBody>
          <a:bodyPr/>
          <a:lstStyle/>
          <a:p>
            <a:pPr>
              <a:defRPr sz="1800"/>
            </a:pPr>
            <a:r>
              <a:t>Der Türanschluss ist die sichtbarste Stelle des Übergangs. Eine Schiebetür bringt wenig, wenn die Schwelle zum Stolperfall wird; eine bodengleiche Tür verlangt eine präzise Wasserführung, damit bei Starkregen kein Wasser zurück in den Raum läuft. Terrassentüren am Wintergarten benötigen einen Anschlag und eine Dichtung, die zur späteren Nutzung passen – ob dauerhaft offen stehend, nur zum Lüften geöffnet oder verschlossen. Auch das Niveau von Innen- und Außenboden sollte vor dem Verlegen der Bodenbeläge feststehen. Motorische Türantriebe, falls gewünscht, gehören in die Haustechnik-Planung und nicht erst in den Einbauauftrag.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Außenanlage parallel zum Wintergarten planen</a:t>
            </a:r>
          </a:p>
        </p:txBody>
      </p:sp>
      <p:sp>
        <p:nvSpPr>
          <p:cNvPr id="3" name="Content Placeholder 2"/>
          <p:cNvSpPr>
            <a:spLocks noGrp="1"/>
          </p:cNvSpPr>
          <p:nvPr>
            <p:ph idx="1"/>
          </p:nvPr>
        </p:nvSpPr>
        <p:spPr/>
        <p:txBody>
          <a:bodyPr/>
          <a:lstStyle/>
          <a:p>
            <a:pPr>
              <a:defRPr sz="1800"/>
            </a:pPr>
            <a:r>
              <a:t>Ein häufiger Fehler: Der Wintergarten wird gebaut, der Garten erst danach angelegt. Dabei hängen Materialwahl und Aufbau der Außenanlage direkt vom Übergang ab. Die Gartenplanung muss den genauen Austrittspunkt und die Lage der Türschwelle übernehmen, die frostfreie Tiefe angrenzender Beläge berücksichtigen, den Verlauf von Regenfallrohren und Versickerungspunkten einbeziehen sowie Leitungen für Strom, Licht und Wasser mitdenken, die vom Wintergarten in den Garten weitergeführt werden. Diese Punkte wirken nebensächlich, entscheiden aber über die spätere Nutzung – ob der Garten bequem erreichbar bleibt, ob das Wasser seinen Weg findet und ob 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Außenanlage parallel zum Wintergarten planen</a:t>
            </a:r>
          </a:p>
        </p:txBody>
      </p:sp>
      <p:sp>
        <p:nvSpPr>
          <p:cNvPr id="3" name="Content Placeholder 2"/>
          <p:cNvSpPr>
            <a:spLocks noGrp="1"/>
          </p:cNvSpPr>
          <p:nvPr>
            <p:ph idx="1"/>
          </p:nvPr>
        </p:nvSpPr>
        <p:spPr/>
        <p:txBody>
          <a:bodyPr/>
          <a:lstStyle/>
          <a:p>
            <a:pPr>
              <a:defRPr sz="1800"/>
            </a:pPr>
            <a:r>
              <a:t>er Übergang zu jeder Jahreszeit trittsicher ist.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Geländegefälle und Nachbarschaft einbeziehen</a:t>
            </a:r>
          </a:p>
        </p:txBody>
      </p:sp>
      <p:sp>
        <p:nvSpPr>
          <p:cNvPr id="3" name="Content Placeholder 2"/>
          <p:cNvSpPr>
            <a:spLocks noGrp="1"/>
          </p:cNvSpPr>
          <p:nvPr>
            <p:ph idx="1"/>
          </p:nvPr>
        </p:nvSpPr>
        <p:spPr/>
        <p:txBody>
          <a:bodyPr/>
          <a:lstStyle/>
          <a:p>
            <a:pPr>
              <a:defRPr sz="1800"/>
            </a:pPr>
            <a:r>
              <a:t>Die Lage des Hauses auf dem Grundstück prägt den Übergang maßgeblich. Steigt oder fällt das Gelände sichtbar, muss das Gefälle vom Wintergarten wegführen, nicht zu ihm hin. Das betrifft sowohl die Höhe des Fundaments als auch die Lage von Terrassenrändern, Wegen und Pflanzflächen. An den Übergang grenzen außerdem Punkte, die nicht direkt zum Wintergarten gehören, aber mitgeplant werden sollten: der Abstand und Sichtschutz zu Nachbargrundstücken, die Entwässerung von Einfahrt oder Stellplätzen sowie die Lage von Mülltonnen-, Fahrrad- oder Gerätestellflächen. Auch spätere Erweiterungen wie eine Markise, Außenjalousien oder ein zweiter Ausgang v</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Geländegefälle und Nachbarschaft einbeziehen</a:t>
            </a:r>
          </a:p>
        </p:txBody>
      </p:sp>
      <p:sp>
        <p:nvSpPr>
          <p:cNvPr id="3" name="Content Placeholder 2"/>
          <p:cNvSpPr>
            <a:spLocks noGrp="1"/>
          </p:cNvSpPr>
          <p:nvPr>
            <p:ph idx="1"/>
          </p:nvPr>
        </p:nvSpPr>
        <p:spPr/>
        <p:txBody>
          <a:bodyPr/>
          <a:lstStyle/>
          <a:p>
            <a:pPr>
              <a:defRPr sz="1800"/>
            </a:pPr>
            <a:r>
              <a:t>erändern den Übergang, ohne Teil des Anbaus zu sein.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 und Garten verbinden: Schnittstelle Anbau und Außenanlage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