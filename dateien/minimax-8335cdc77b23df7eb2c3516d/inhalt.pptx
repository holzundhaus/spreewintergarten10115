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spreewintergarten10115.wordpress.com/2026/10/19/wintergarten-nachtraeglich-erweitern/" TargetMode="External"/><Relationship Id="rId3" Type="http://schemas.openxmlformats.org/officeDocument/2006/relationships/hyperlink" Target="https://holzundhaus.github.io/spreewintergarten10115/dateien/minimax-8335cdc77b23df7eb2c3516d/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Wintergarten nachträglich erweitern: Was bei einem Bestandsbau zu beachten ist · Erklärende Präsentation</a:t>
            </a:r>
          </a:p>
        </p:txBody>
      </p:sp>
      <p:sp>
        <p:nvSpPr>
          <p:cNvPr id="3" name="Content Placeholder 2"/>
          <p:cNvSpPr>
            <a:spLocks noGrp="1"/>
          </p:cNvSpPr>
          <p:nvPr>
            <p:ph idx="1"/>
          </p:nvPr>
        </p:nvSpPr>
        <p:spPr/>
        <p:txBody>
          <a:bodyPr/>
          <a:lstStyle/>
          <a:p>
            <a:r>
              <a:t>Überblick: Eine nachträgliche Erweiterung des Wintergartens stellt Bauherren vor besondere Herausforderungen, die über den reinen Anbau hinausgehen. Während ein Neubau auf frischem Untergrund und nach aktuellem Stand der Technik geplant wird, muss eine Erweiterung mit einer bestehenden, oft jahrelang bewährten Konstruktion zusammenfinden. Dieser Ratgeber beleuchtet die wesentlichen Aspekte, die vor einer Erweiterung bedacht werden sollten, und liefert eine Grundlage für die weiteren Planungsschritte.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eine Erweiterung mehr ist als ein Anbau</a:t>
            </a:r>
          </a:p>
        </p:txBody>
      </p:sp>
      <p:sp>
        <p:nvSpPr>
          <p:cNvPr id="3" name="Content Placeholder 2"/>
          <p:cNvSpPr>
            <a:spLocks noGrp="1"/>
          </p:cNvSpPr>
          <p:nvPr>
            <p:ph idx="1"/>
          </p:nvPr>
        </p:nvSpPr>
        <p:spPr/>
        <p:txBody>
          <a:bodyPr/>
          <a:lstStyle/>
          <a:p>
            <a:pPr>
              <a:defRPr sz="1800"/>
            </a:pPr>
            <a:r>
              <a:t>Anders als beim Erstbau eines Wintergartens trifft eine Erweiterung auf vorhandene Bausubstanz mit einer eigenen Geschichte. Die bestehende Konstruktion ist für bestimmte Lasten, Nutzungen und energetische Eigenschaften ausgelegt. Jede Veränderung – sei es eine Vergrößerung der Grundfläche, eine andere Firsthöhe oder ein veränderter Grundriss – beeinflusst das Zusammenspiel aller Bauteile. Statische Reserven, die beim Erstbau einkalkuliert wurden, können durch die Erweiterung aufgebraucht sein. Auch die Bauaufsicht behandelt eine Erweiterung regelmäßig als eigenständige bauliche Änderung, die eigenen Genehmigungstatbeständen unterliegt. Das b</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eine Erweiterung mehr ist als ein Anbau</a:t>
            </a:r>
          </a:p>
        </p:txBody>
      </p:sp>
      <p:sp>
        <p:nvSpPr>
          <p:cNvPr id="3" name="Content Placeholder 2"/>
          <p:cNvSpPr>
            <a:spLocks noGrp="1"/>
          </p:cNvSpPr>
          <p:nvPr>
            <p:ph idx="1"/>
          </p:nvPr>
        </p:nvSpPr>
        <p:spPr/>
        <p:txBody>
          <a:bodyPr/>
          <a:lstStyle/>
          <a:p>
            <a:pPr>
              <a:defRPr sz="1800"/>
            </a:pPr>
            <a:r>
              <a:t>edeutet: Selbst wenn der Bestandswintergarten genehmigt ist, kann für die Erweiterung ein neues Verfahren erforderlich werden.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Tragwerk und Lastabtragung prüfen</a:t>
            </a:r>
          </a:p>
        </p:txBody>
      </p:sp>
      <p:sp>
        <p:nvSpPr>
          <p:cNvPr id="3" name="Content Placeholder 2"/>
          <p:cNvSpPr>
            <a:spLocks noGrp="1"/>
          </p:cNvSpPr>
          <p:nvPr>
            <p:ph idx="1"/>
          </p:nvPr>
        </p:nvSpPr>
        <p:spPr/>
        <p:txBody>
          <a:bodyPr/>
          <a:lstStyle/>
          <a:p>
            <a:pPr>
              <a:defRPr sz="1800"/>
            </a:pPr>
            <a:r>
              <a:t>Die Standsicherheit ist der zentrale Punkt jeder Erweiterung. Der bestehende Wintergarten trägt seine Lasten über ein fest definiertes System aus Pfosten, Riegeln und Fundamenten ab. Wird dieses System verlängert oder verändert, verschiebt sich der Lastfluss. Die neuen Bauteile erzeugen zusätzliche Kräfte, die über die vorhandene Konstruktion oder über ergänzende Gründungselemente abgeleitet werden müssen. Vor Beginn der Entwurfsplanung sollte daher feststehen, welche rechnerischen Reserven der Bestand noch bietet und ob ein neuer statischer Nachweis erforderlich wird. Diese Klärung verhindert, dass die Erweiterung in eine Geometrie gezwängt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Tragwerk und Lastabtragung prüfen</a:t>
            </a:r>
          </a:p>
        </p:txBody>
      </p:sp>
      <p:sp>
        <p:nvSpPr>
          <p:cNvPr id="3" name="Content Placeholder 2"/>
          <p:cNvSpPr>
            <a:spLocks noGrp="1"/>
          </p:cNvSpPr>
          <p:nvPr>
            <p:ph idx="1"/>
          </p:nvPr>
        </p:nvSpPr>
        <p:spPr/>
        <p:txBody>
          <a:bodyPr/>
          <a:lstStyle/>
          <a:p>
            <a:pPr>
              <a:defRPr sz="1800"/>
            </a:pPr>
            <a:r>
              <a:t>wird, die später nicht umsetzbar ist.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Anschlüsse an Bestand und Gebäudehülle</a:t>
            </a:r>
          </a:p>
        </p:txBody>
      </p:sp>
      <p:sp>
        <p:nvSpPr>
          <p:cNvPr id="3" name="Content Placeholder 2"/>
          <p:cNvSpPr>
            <a:spLocks noGrp="1"/>
          </p:cNvSpPr>
          <p:nvPr>
            <p:ph idx="1"/>
          </p:nvPr>
        </p:nvSpPr>
        <p:spPr/>
        <p:txBody>
          <a:bodyPr/>
          <a:lstStyle/>
          <a:p>
            <a:pPr>
              <a:defRPr sz="1800"/>
            </a:pPr>
            <a:r>
              <a:t>Die Verbindungsstelle zwischen Alt und Neu verdient besondere Aufmerksamkeit. Wandanschluss, Dachanschluss und Türschwelle müssen dauerhaft funktionieren und dabei unterschiedliche thermische Eigenschaften, Setzungsverhalten und Materialspannungen ausgleichen. Wenn die Erweiterung energetisch besser eingestuft wird als der Bestand, kann sich die bauphysikalische Bewertung des gesamten Übergangs ändern. Das betrifft Wärmebrücken, Taupunktverläufe und letztlich den Wohnkomfort im erweiterten Wintergarten. Auch der Feuchteschutz am Übergang muss sorgfältig geplant werden, um Beschädigungen an Bausubstanz und Innenausstattung zu vermeiden.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Entwässerung und Haustechnik</a:t>
            </a:r>
          </a:p>
        </p:txBody>
      </p:sp>
      <p:sp>
        <p:nvSpPr>
          <p:cNvPr id="3" name="Content Placeholder 2"/>
          <p:cNvSpPr>
            <a:spLocks noGrp="1"/>
          </p:cNvSpPr>
          <p:nvPr>
            <p:ph idx="1"/>
          </p:nvPr>
        </p:nvSpPr>
        <p:spPr/>
        <p:txBody>
          <a:bodyPr/>
          <a:lstStyle/>
          <a:p>
            <a:pPr>
              <a:defRPr sz="1800"/>
            </a:pPr>
            <a:r>
              <a:t>Eine vergrößerte Dachfläche sammelt mehr Regenwasser, das über die bestehende Entwässerungsanlage abgeleitet werden muss. Ist der bisherige Ablauf nur für die ursprüngliche Fläche bemessen, kann es bei Starkregen zu Überlastungen kommen. Neben dem normalen Gefälle und der Notentwässerung ist auch der Anschluss an vorhandene Leitungen zu prüfen. Ebenso spielt die Haustechnik eine Rolle: Beschattungssteuerungen, Beleuchtung, Heizung und Lüftung lassen sich oft nicht einfach erweitern. Vorhandene elektrische Anschlüsse und deren Absicherung müssen für die neuen Lasten geeignet sein, oder es müssen zusätzliche Zuleitungen verlegt werden.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Genehmigung, Verfahren und Unterlagen</a:t>
            </a:r>
          </a:p>
        </p:txBody>
      </p:sp>
      <p:sp>
        <p:nvSpPr>
          <p:cNvPr id="3" name="Content Placeholder 2"/>
          <p:cNvSpPr>
            <a:spLocks noGrp="1"/>
          </p:cNvSpPr>
          <p:nvPr>
            <p:ph idx="1"/>
          </p:nvPr>
        </p:nvSpPr>
        <p:spPr/>
        <p:txBody>
          <a:bodyPr/>
          <a:lstStyle/>
          <a:p>
            <a:pPr>
              <a:defRPr sz="1800"/>
            </a:pPr>
            <a:r>
              <a:t>Die Frage, welches Genehmigungsverfahren für die Erweiterung gilt, hängt von mehreren Faktoren ab: Grundstückslage, Größe der Erweiterung, geplante Nutzung und die Regelungen des jeweiligen Bebauungsplans. In vielen Fällen genügt ein vereinfachtes Verfahren, in anderen kann ein vollständiger Bauantrag mit Prüfung durch die Bauaufsicht erforderlich sein. Die zuständige bezirkliche Stelle gibt dazu frühzeitig Auskunft. Für die Antragstellung werden typischerweise Bestandspläne, neue Entwurfspläne, Anschlussdetails und objektspezifische Nachweise benötigt. Wer diese Unterlagen frühzeitig zusammenstellt und die Schnittstellen zur bestehenden Kons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Genehmigung, Verfahren und Unterlagen</a:t>
            </a:r>
          </a:p>
        </p:txBody>
      </p:sp>
      <p:sp>
        <p:nvSpPr>
          <p:cNvPr id="3" name="Content Placeholder 2"/>
          <p:cNvSpPr>
            <a:spLocks noGrp="1"/>
          </p:cNvSpPr>
          <p:nvPr>
            <p:ph idx="1"/>
          </p:nvPr>
        </p:nvSpPr>
        <p:spPr/>
        <p:txBody>
          <a:bodyPr/>
          <a:lstStyle/>
          <a:p>
            <a:pPr>
              <a:defRPr sz="1800"/>
            </a:pPr>
            <a:r>
              <a:t>truktion klar dokumentiert, spart im Genehmigungsprozess Zeit und vermeidet Rückfragen.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Wintergarten nachträglich erweitern: Was bei einem Bestandsbau zu beachten ist</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