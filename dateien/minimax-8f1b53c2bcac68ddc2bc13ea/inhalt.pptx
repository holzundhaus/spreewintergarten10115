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wintergarten/-/blob/6c86a92e31c31f0ab2869a74a65745add9921f63/_posts/2026-10-22-statik-bauteilauslegung-wintergarten.md" TargetMode="External"/><Relationship Id="rId3" Type="http://schemas.openxmlformats.org/officeDocument/2006/relationships/hyperlink" Target="https://holzundhaus.github.io/spreewintergarten10115/dateien/minimax-8f1b53c2bcac68ddc2bc13e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Bauteilauslegung beim Wintergarten · Erklärende Präsentation</a:t>
            </a:r>
          </a:p>
        </p:txBody>
      </p:sp>
      <p:sp>
        <p:nvSpPr>
          <p:cNvPr id="3" name="Content Placeholder 2"/>
          <p:cNvSpPr>
            <a:spLocks noGrp="1"/>
          </p:cNvSpPr>
          <p:nvPr>
            <p:ph idx="1"/>
          </p:nvPr>
        </p:nvSpPr>
        <p:spPr/>
        <p:txBody>
          <a:bodyPr/>
          <a:lstStyle/>
          <a:p>
            <a:r>
              <a:t>Überblick: Die Statik bildet die technische Grundlage für jeden Wintergarten: Sie bestimmt, wie Rahmen, Glas, Befestigungen und Fundament zusammenarbeiten und welche Kräfte sicher in den Untergrund übertragen werden. Wer diese Anforderungen vor der Produktauswahl klärt, kann spätere Änderungen vermeiden. Der folgende Leitfaden zeigt, welche Fragen in welcher Reihenfolge beantwortet werden sollten und worauf bei Rahmen, Verglasung, Anschlüssen und Gründung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Tragwerksplanung vor der Produktauswahl beginnt</a:t>
            </a:r>
          </a:p>
        </p:txBody>
      </p:sp>
      <p:sp>
        <p:nvSpPr>
          <p:cNvPr id="3" name="Content Placeholder 2"/>
          <p:cNvSpPr>
            <a:spLocks noGrp="1"/>
          </p:cNvSpPr>
          <p:nvPr>
            <p:ph idx="1"/>
          </p:nvPr>
        </p:nvSpPr>
        <p:spPr/>
        <p:txBody>
          <a:bodyPr/>
          <a:lstStyle/>
          <a:p>
            <a:pPr>
              <a:defRPr sz="1800"/>
            </a:pPr>
            <a:r>
              <a:t>Ein Wintergarten wird nicht nur durch sein Erscheinungsbild und die gewünschte Glasfläche bestimmt. Eigenlasten, Winddruck, Schneelasten und Temperatureinwirkungen müssen rechnerisch erfasst und in eine tragfähige Konstruktion überführt werden. Spannweite, Höhe, Lage und Form beeinflussen dabei die benötigten Rahmenquerschnitte und die Anordnung der Befestigungspunkte. Erst wenn diese Anforderungen feststehen, lassen sich Produkte sinnvoll vergleichen. Andernfalls kann ein optisch passendes System den tatsächlichen Anforderungen nicht genügen. Die statische Bemessung sollte deshalb vor der Entscheidung für konkrete Profile, Scheiben und Syste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Tragwerksplanung vor der Produktauswahl beginnt</a:t>
            </a:r>
          </a:p>
        </p:txBody>
      </p:sp>
      <p:sp>
        <p:nvSpPr>
          <p:cNvPr id="3" name="Content Placeholder 2"/>
          <p:cNvSpPr>
            <a:spLocks noGrp="1"/>
          </p:cNvSpPr>
          <p:nvPr>
            <p:ph idx="1"/>
          </p:nvPr>
        </p:nvSpPr>
        <p:spPr/>
        <p:txBody>
          <a:bodyPr/>
          <a:lstStyle/>
          <a:p>
            <a:pPr>
              <a:defRPr sz="1800"/>
            </a:pPr>
            <a:r>
              <a:t>me vorliegen.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Rahmen und Glas als zusammenhängendes System</a:t>
            </a:r>
          </a:p>
        </p:txBody>
      </p:sp>
      <p:sp>
        <p:nvSpPr>
          <p:cNvPr id="3" name="Content Placeholder 2"/>
          <p:cNvSpPr>
            <a:spLocks noGrp="1"/>
          </p:cNvSpPr>
          <p:nvPr>
            <p:ph idx="1"/>
          </p:nvPr>
        </p:nvSpPr>
        <p:spPr/>
        <p:txBody>
          <a:bodyPr/>
          <a:lstStyle/>
          <a:p>
            <a:pPr>
              <a:defRPr sz="1800"/>
            </a:pPr>
            <a:r>
              <a:t>Die Statik legt Mindestquerschnitte für Pfosten, Riegel und Sparren fest. Größere Glasflächen können stabilere Profile oder zusätzliche Unterteilungen erfordern; auch die freie Spannweite zwischen Befestigungspunkten wirkt sich unmittelbar auf die Profilwahl aus. Schmale Ansichten und hohe Transparenz sind damit nicht grundsätzlich ausgeschlossen, müssen aber passend bemessen werden. Parallel dazu werden Scheibendicke und Glasaufbau unter Last sowie die Sicherheit gegen Bruch betrachtet. Die erforderlichen Nachweise hängen unter anderem von der konkreten Einbausituation und den örtlich anzusetzenden Lasten ab. Produktkataloge allein ersetzen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Rahmen und Glas als zusammenhängendes System</a:t>
            </a:r>
          </a:p>
        </p:txBody>
      </p:sp>
      <p:sp>
        <p:nvSpPr>
          <p:cNvPr id="3" name="Content Placeholder 2"/>
          <p:cNvSpPr>
            <a:spLocks noGrp="1"/>
          </p:cNvSpPr>
          <p:nvPr>
            <p:ph idx="1"/>
          </p:nvPr>
        </p:nvSpPr>
        <p:spPr/>
        <p:txBody>
          <a:bodyPr/>
          <a:lstStyle/>
          <a:p>
            <a:pPr>
              <a:defRPr sz="1800"/>
            </a:pPr>
            <a:r>
              <a:t>diese Prüfung nicht.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Befestigungen, Anschlüsse und Fundament müssen übereinstimmen</a:t>
            </a:r>
          </a:p>
        </p:txBody>
      </p:sp>
      <p:sp>
        <p:nvSpPr>
          <p:cNvPr id="3" name="Content Placeholder 2"/>
          <p:cNvSpPr>
            <a:spLocks noGrp="1"/>
          </p:cNvSpPr>
          <p:nvPr>
            <p:ph idx="1"/>
          </p:nvPr>
        </p:nvSpPr>
        <p:spPr/>
        <p:txBody>
          <a:bodyPr/>
          <a:lstStyle/>
          <a:p>
            <a:pPr>
              <a:defRPr sz="1800"/>
            </a:pPr>
            <a:r>
              <a:t>Anzahl und Lage der Befestigungspunkte folgen aus der Kraftableitung. Sie müssen so gewählt sein, dass das Tragwerk die Lasten sicher aufnehmen kann. Das betrifft sowohl die Verankerung im Fundament als auch den Anschluss am bestehenden Gebäude. Besonders wichtig sind dabei der Wandanschluss mit horizontaler und vertikaler Lastübertragung sowie die Ausbildung bei Pult- oder Satteldachformen. Auch die Gründung muss zum gesamten Lastbild passen. Stimmen die geplanten Punkte nicht mit den Stützen oder Pfosten überein, können Lastkonzentrationen oder Setzungen entstehen. Ergänzende Hinweise zur Abstimmung von Konstruktion und Gründung liefert 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Befestigungen, Anschlüsse und Fundament müssen übereinstimmen</a:t>
            </a:r>
          </a:p>
        </p:txBody>
      </p:sp>
      <p:sp>
        <p:nvSpPr>
          <p:cNvPr id="3" name="Content Placeholder 2"/>
          <p:cNvSpPr>
            <a:spLocks noGrp="1"/>
          </p:cNvSpPr>
          <p:nvPr>
            <p:ph idx="1"/>
          </p:nvPr>
        </p:nvSpPr>
        <p:spPr/>
        <p:txBody>
          <a:bodyPr/>
          <a:lstStyle/>
          <a:p>
            <a:pPr>
              <a:defRPr sz="1800"/>
            </a:pPr>
            <a:r>
              <a:t> Ratgeber zum Fundament.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statische Fachnachweis enthalten sollte</a:t>
            </a:r>
          </a:p>
        </p:txBody>
      </p:sp>
      <p:sp>
        <p:nvSpPr>
          <p:cNvPr id="3" name="Content Placeholder 2"/>
          <p:cNvSpPr>
            <a:spLocks noGrp="1"/>
          </p:cNvSpPr>
          <p:nvPr>
            <p:ph idx="1"/>
          </p:nvPr>
        </p:nvSpPr>
        <p:spPr/>
        <p:txBody>
          <a:bodyPr/>
          <a:lstStyle/>
          <a:p>
            <a:pPr>
              <a:defRPr sz="1800"/>
            </a:pPr>
            <a:r>
              <a:t>Die statische Berechnung wird von einem Tragwerksplaner erstellt. Zu den wesentlichen Bestandteilen gehören die anzusetzenden Lasten, die erforderlichen Bauteilabmessungen und Anschlüsse sowie die Nachweise für Standsicherheit und Gebrauchstauglichkeit. Vor einer Bestellung sollte deshalb geklärt werden, welche Unterlagen vorliegen und ob die ausgewählten Profile, Scheiben und Befestigungslösungen genau den berechneten Vorgaben entsprechen. Hilfreich ist eine schriftliche Checkliste: Welche Lasten wirken an welchen Stellen? Welche Rahmenquerschnitte sind erforderlich? Wie viele Befestigungspunkte werden benötigt? Welche Angaben zum Baugrund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der statische Fachnachweis enthalten sollte</a:t>
            </a:r>
          </a:p>
        </p:txBody>
      </p:sp>
      <p:sp>
        <p:nvSpPr>
          <p:cNvPr id="3" name="Content Placeholder 2"/>
          <p:cNvSpPr>
            <a:spLocks noGrp="1"/>
          </p:cNvSpPr>
          <p:nvPr>
            <p:ph idx="1"/>
          </p:nvPr>
        </p:nvSpPr>
        <p:spPr/>
        <p:txBody>
          <a:bodyPr/>
          <a:lstStyle/>
          <a:p>
            <a:pPr>
              <a:defRPr sz="1800"/>
            </a:pPr>
            <a:r>
              <a:t>erden für die Gründungsbemessung benötigt? Welche Unterlagen sind für das Genehmigungsverfahren einzureichen? Lassen sich diese Fragen nicht pauschal beantworten, sollte die statische Klärung vor der Produktauswahl abgeschlossen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Prüfung vor Ausführung und Montage</a:t>
            </a:r>
          </a:p>
        </p:txBody>
      </p:sp>
      <p:sp>
        <p:nvSpPr>
          <p:cNvPr id="3" name="Content Placeholder 2"/>
          <p:cNvSpPr>
            <a:spLocks noGrp="1"/>
          </p:cNvSpPr>
          <p:nvPr>
            <p:ph idx="1"/>
          </p:nvPr>
        </p:nvSpPr>
        <p:spPr/>
        <p:txBody>
          <a:bodyPr/>
          <a:lstStyle/>
          <a:p>
            <a:pPr>
              <a:defRPr sz="1800"/>
            </a:pPr>
            <a:r>
              <a:t>Auch die sorgfältigste Planung schützt nicht vor Abweichungen, wenn bestellte oder ausgeführte Bauteile nicht mit der Statik übereinstimmen. Vor der Montage sollten deshalb Maße und Querschnitte der Profile, die Glasaufbauten, Anschlüsse sowie die Befestigung am Haus und im Fundament abschließend geprüft werden. Wird während der Planung eine Abweichung erforderlich, kann die Berechnung angepasst und die betroffenen Bauteile neu festgelegt werden. Werden Änderungen erst auf der Baustelle erkannt, sind aufwendige Korrekturen unvermeidbar. Zudem greifen statische Anforderungen an einer Stelle häufig auf andere Bereiche durch: Ein veränderter Ans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Prüfung vor Ausführung und Montage</a:t>
            </a:r>
          </a:p>
        </p:txBody>
      </p:sp>
      <p:sp>
        <p:nvSpPr>
          <p:cNvPr id="3" name="Content Placeholder 2"/>
          <p:cNvSpPr>
            <a:spLocks noGrp="1"/>
          </p:cNvSpPr>
          <p:nvPr>
            <p:ph idx="1"/>
          </p:nvPr>
        </p:nvSpPr>
        <p:spPr/>
        <p:txBody>
          <a:bodyPr/>
          <a:lstStyle/>
          <a:p>
            <a:pPr>
              <a:defRPr sz="1800"/>
            </a:pPr>
            <a:r>
              <a:t>chluss kann das Fundament und die gewählten Profile betreffen. Deshalb sollten statische Planung, Gründung, Genehmigungsunterlagen und Produktfestlegung als zusammenhängender Prozess behandelt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Statik und Bauteilauslegung beim Wintergarten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