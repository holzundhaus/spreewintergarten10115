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wintergarten/-/blob/da4b715553c40df30eafa61129415ee24b3ad74b/_posts/2026-10-26-baugenehmigungsunterlagen-fuer-wintergarten-vorbereiten.md" TargetMode="External"/><Relationship Id="rId3" Type="http://schemas.openxmlformats.org/officeDocument/2006/relationships/hyperlink" Target="https://holzundhaus.github.io/spreewintergarten10115/dateien/minimax-876558e416af59517b19bc1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Genehmigungsunterlagen für den Wintergarten: Was wirklich gebraucht wird · Erklärende Präsentation</a:t>
            </a:r>
          </a:p>
        </p:txBody>
      </p:sp>
      <p:sp>
        <p:nvSpPr>
          <p:cNvPr id="3" name="Content Placeholder 2"/>
          <p:cNvSpPr>
            <a:spLocks noGrp="1"/>
          </p:cNvSpPr>
          <p:nvPr>
            <p:ph idx="1"/>
          </p:nvPr>
        </p:nvSpPr>
        <p:spPr/>
        <p:txBody>
          <a:bodyPr/>
          <a:lstStyle/>
          <a:p>
            <a:r>
              <a:t>Überblick: Für die Vorbereitung eines Wintergartens zählt nicht die Länge einer allgemeinen Checkliste, sondern die Passgenauigkeit der Unterlagen. Grundstückssituation, Nutzung und Konstruktion entscheiden darüber, was ein Verfahren verlangt. Der Leitfaden „Genehmigungsunterlagen für den Wintergarten“ und die ergänzenden „Hinweise zur Vorbereitung“ zeigen, welche Unterlagen erfahrungsgemäß den Ausgangspunkt bilden und wo eine fachliche Prüfung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den Ausgangspunkt bilden</a:t>
            </a:r>
          </a:p>
        </p:txBody>
      </p:sp>
      <p:sp>
        <p:nvSpPr>
          <p:cNvPr id="3" name="Content Placeholder 2"/>
          <p:cNvSpPr>
            <a:spLocks noGrp="1"/>
          </p:cNvSpPr>
          <p:nvPr>
            <p:ph idx="1"/>
          </p:nvPr>
        </p:nvSpPr>
        <p:spPr/>
        <p:txBody>
          <a:bodyPr/>
          <a:lstStyle/>
          <a:p>
            <a:pPr>
              <a:defRPr sz="1800"/>
            </a:pPr>
            <a:r>
              <a:t>Am Beginn stehen die Angaben zum konkreten Grundstück sowie der aktuelle Lageplan. Sie helfen, die örtlichen Rahmenbedingungen zu erfassen und die zuständige Stelle zu klären. Bestandspläne und Fotos dokumentieren vorhandene Öffnungen, Anschlüsse und die Geländesituation. Dazu kommen Entwurfsgrundrisse, Maße und Ansichten, aus denen Lage, Baukörper, Höhe und Dachform eindeutig hervorgehen. Auch die geplante Nutzung sollte schriftlich beschrieben sein. Entscheidend ist die Unterscheidung zwischen einem saisonalen Glasanbau und einem ganzjährig nutzbaren Aufenthaltsraum, da sich daraus unterschiedliche Anforderungen ergeben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pauschale Checkliste nicht ausreicht</a:t>
            </a:r>
          </a:p>
        </p:txBody>
      </p:sp>
      <p:sp>
        <p:nvSpPr>
          <p:cNvPr id="3" name="Content Placeholder 2"/>
          <p:cNvSpPr>
            <a:spLocks noGrp="1"/>
          </p:cNvSpPr>
          <p:nvPr>
            <p:ph idx="1"/>
          </p:nvPr>
        </p:nvSpPr>
        <p:spPr/>
        <p:txBody>
          <a:bodyPr/>
          <a:lstStyle/>
          <a:p>
            <a:pPr>
              <a:defRPr sz="1800"/>
            </a:pPr>
            <a:r>
              <a:t>Eine allgemein gültige Liste ersetzt keine behördliche Auskunft und keine Prüfung des einzelnen Vorhabens. Der Umfang der erforderlichen Unterlagen hängt vom gewählten Verfahren, von der Lage des Grundstücks, vom vorhandenen Gebäude und von der vorgesehenen Nutzung ab. Besonders bei einem Wintergarten am Altbau müssen bestehende Anschlüsse, Öffnungen und konstruktive Gegebenheiten berücksichtigt werden. Auch die Unterscheidung zwischen verschiedenen Bauvorlagen sollte früh geklärt werden, damit später weder Unterlagen fehlen noch ein unpassender Entwurf eingereicht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technischen Nachweise möglich sind</a:t>
            </a:r>
          </a:p>
        </p:txBody>
      </p:sp>
      <p:sp>
        <p:nvSpPr>
          <p:cNvPr id="3" name="Content Placeholder 2"/>
          <p:cNvSpPr>
            <a:spLocks noGrp="1"/>
          </p:cNvSpPr>
          <p:nvPr>
            <p:ph idx="1"/>
          </p:nvPr>
        </p:nvSpPr>
        <p:spPr/>
        <p:txBody>
          <a:bodyPr/>
          <a:lstStyle/>
          <a:p>
            <a:pPr>
              <a:defRPr sz="1800"/>
            </a:pPr>
            <a:r>
              <a:t>Je nach Konstruktion und Standort können weitere Fachnachweise verlangt werden. Ein statischer Nachweis kann die Lastabtragung und die Anschlüsse betreffen. Bei einer ganzjährigen Nutzung kann zusätzlich eine energetische Bewertung erforderlich sein. Für Boden und Wandanschlüsse kann ein Feuchteschutzkonzept eine Rolle spielen. Außerdem kann die Prüfung von Abstandsflächen und Grenzabständen wichtig werden. Welche Nachweise tatsächlich benötigt werden, lässt sich nicht pauschal bestimmen. Sie sollten daher gemeinsam mit der zuständigen Stelle und einer fachlich qualifizierten Person abgestimmt werden, bevor zusätzliche Dokumente beauftragt we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technischen Nachweise möglich sind</a:t>
            </a:r>
          </a:p>
        </p:txBody>
      </p:sp>
      <p:sp>
        <p:nvSpPr>
          <p:cNvPr id="3" name="Content Placeholder 2"/>
          <p:cNvSpPr>
            <a:spLocks noGrp="1"/>
          </p:cNvSpPr>
          <p:nvPr>
            <p:ph idx="1"/>
          </p:nvPr>
        </p:nvSpPr>
        <p:spPr/>
        <p:txBody>
          <a:bodyPr/>
          <a:lstStyle/>
          <a:p>
            <a:pPr>
              <a:defRPr sz="1800"/>
            </a:pPr>
            <a:r>
              <a:t>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 erstellt, prüft und unterschreibt die Unterlagen</a:t>
            </a:r>
          </a:p>
        </p:txBody>
      </p:sp>
      <p:sp>
        <p:nvSpPr>
          <p:cNvPr id="3" name="Content Placeholder 2"/>
          <p:cNvSpPr>
            <a:spLocks noGrp="1"/>
          </p:cNvSpPr>
          <p:nvPr>
            <p:ph idx="1"/>
          </p:nvPr>
        </p:nvSpPr>
        <p:spPr/>
        <p:txBody>
          <a:bodyPr/>
          <a:lstStyle/>
          <a:p>
            <a:pPr>
              <a:defRPr sz="1800"/>
            </a:pPr>
            <a:r>
              <a:t>Vor der Zusammenstellung sollte ein eindeutiger Verantwortungsplan stehen: Wer erstellt die Bauvorlagen, wer prüft sie fachlich und wer unterschreibt sie? Formulare und Vordrucke müssen dem aktuellen Verfahren entsprechen und sollten deshalb nicht aus älteren Artikeln oder allgemeinen Vorlagen übernommen werden. Auch besondere Bindungen des jeweiligen Grundstücks sind zu prüfen. Der Entwurf muss zum vorhandenen Gebäudebestand passen. Diese Klärung verhindert, dass Unterlagen zwar gesammelt, aber wegen formaler oder inhaltlicher Mängel erneut bearbeitet werden müssen.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bleibt der Antrag vorbereitet</a:t>
            </a:r>
          </a:p>
        </p:txBody>
      </p:sp>
      <p:sp>
        <p:nvSpPr>
          <p:cNvPr id="3" name="Content Placeholder 2"/>
          <p:cNvSpPr>
            <a:spLocks noGrp="1"/>
          </p:cNvSpPr>
          <p:nvPr>
            <p:ph idx="1"/>
          </p:nvPr>
        </p:nvSpPr>
        <p:spPr/>
        <p:txBody>
          <a:bodyPr/>
          <a:lstStyle/>
          <a:p>
            <a:pPr>
              <a:defRPr sz="1800"/>
            </a:pPr>
            <a:r>
              <a:t>Vor einer Antragstellung empfiehlt sich ein geordneter Ablauf. Zunächst wird der zuständige Verfahrensweg geklärt und Ideally schriftlich bestätigt. Anschließend lassen sich Grundstück, Nutzung und Konstruktion gemeinsam mit einer Fachperson prüfen. Dabei sollte auch festgehalten werden, wer welche Unterlagen bis wann liefert. Die abschließende Kontrolle orientiert sich am konkreten Verfahren und am genehmigungsfähigen Entwurf. So entsteht kein bloß vollständig wirkender Stapel aus Papieren, sondern eine nachvollziehbare Unterlagenmappe, die die für das jeweilige Vorhaben relevanten Punkte abdeckt.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Genehmigungsunterlagen für den Wintergarten: Was wirklich gebraucht wird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